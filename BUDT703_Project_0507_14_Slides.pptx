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1"/>
  </p:notesMasterIdLst>
  <p:sldIdLst>
    <p:sldId id="256" r:id="rId2"/>
    <p:sldId id="271" r:id="rId3"/>
    <p:sldId id="258" r:id="rId4"/>
    <p:sldId id="257" r:id="rId5"/>
    <p:sldId id="259" r:id="rId6"/>
    <p:sldId id="260" r:id="rId7"/>
    <p:sldId id="261" r:id="rId8"/>
    <p:sldId id="263" r:id="rId9"/>
    <p:sldId id="262" r:id="rId10"/>
    <p:sldId id="264" r:id="rId11"/>
    <p:sldId id="266" r:id="rId12"/>
    <p:sldId id="265" r:id="rId13"/>
    <p:sldId id="267" r:id="rId14"/>
    <p:sldId id="273" r:id="rId15"/>
    <p:sldId id="268" r:id="rId16"/>
    <p:sldId id="269" r:id="rId17"/>
    <p:sldId id="270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3CDBE-EA7A-4C8E-8C34-617BCBF5E8A1}" type="datetimeFigureOut">
              <a:rPr lang="en-IN" smtClean="0"/>
              <a:t>09/12/24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44B6B-400D-4B9F-9268-73331739D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95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44B6B-400D-4B9F-9268-73331739D58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16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1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2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7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0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9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1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1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7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3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December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December 9, 2024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2722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trak.com/content/dam/projects/dotcom/english/public/documents/corporate/businessplanning/Amtrak-Five-Year-Service-Plans-FY18-FY23.pdf" TargetMode="External"/><Relationship Id="rId2" Type="http://schemas.openxmlformats.org/officeDocument/2006/relationships/hyperlink" Target="https://umd.instructure.com/courses/1368423/modules/items/1322117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E74C2-E76D-7658-6907-4D7757519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28550"/>
            <a:ext cx="4350870" cy="294721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VAMP</a:t>
            </a:r>
            <a:br>
              <a:rPr lang="en-US" sz="2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(Vaulted Amtrak Metrics and Performance)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D95C8-0673-D4A6-BA96-D35F7C734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838" y="3779522"/>
            <a:ext cx="4210167" cy="2490392"/>
          </a:xfrm>
        </p:spPr>
        <p:txBody>
          <a:bodyPr anchor="b">
            <a:noAutofit/>
          </a:bodyPr>
          <a:lstStyle/>
          <a:p>
            <a:pPr marL="18000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Aishwarya Chamakuri,</a:t>
            </a:r>
          </a:p>
          <a:p>
            <a:pPr marL="18000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Manish </a:t>
            </a:r>
            <a:r>
              <a:rPr lang="en-IN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Gangapuram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18000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Pavan </a:t>
            </a:r>
            <a:r>
              <a:rPr lang="en-IN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prithvi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Madduri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18000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Vinay </a:t>
            </a:r>
            <a:r>
              <a:rPr lang="en-IN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Chanamallu</a:t>
            </a:r>
            <a:endParaRPr lang="en-IN" sz="1400" b="0" dirty="0">
              <a:effectLst/>
            </a:endParaRPr>
          </a:p>
          <a:p>
            <a:pPr marL="180000">
              <a:lnSpc>
                <a:spcPct val="100000"/>
              </a:lnSpc>
            </a:pPr>
            <a:br>
              <a:rPr lang="en-IN" sz="1400" dirty="0"/>
            </a:br>
            <a:endParaRPr lang="en-I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38E66-A9B5-1AC7-5247-E9E0F4EC7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5974080" y="968994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48416B-454C-13BF-61FD-43397731EFA1}"/>
              </a:ext>
            </a:extLst>
          </p:cNvPr>
          <p:cNvSpPr txBox="1"/>
          <p:nvPr/>
        </p:nvSpPr>
        <p:spPr>
          <a:xfrm>
            <a:off x="9590567" y="3827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12/04/2024</a:t>
            </a:r>
          </a:p>
        </p:txBody>
      </p:sp>
    </p:spTree>
    <p:extLst>
      <p:ext uri="{BB962C8B-B14F-4D97-AF65-F5344CB8AC3E}">
        <p14:creationId xmlns:p14="http://schemas.microsoft.com/office/powerpoint/2010/main" val="218813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072DFC-9FC6-3BAC-70D7-7AAE42CA5F61}"/>
              </a:ext>
            </a:extLst>
          </p:cNvPr>
          <p:cNvSpPr txBox="1">
            <a:spLocks/>
          </p:cNvSpPr>
          <p:nvPr/>
        </p:nvSpPr>
        <p:spPr>
          <a:xfrm>
            <a:off x="975360" y="685169"/>
            <a:ext cx="10241280" cy="12344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0" dirty="0">
                <a:latin typeface="Arial" panose="020B0604020202020204" pitchFamily="34" charset="0"/>
              </a:rPr>
              <a:t>Data Sources</a:t>
            </a:r>
          </a:p>
          <a:p>
            <a:br>
              <a:rPr lang="en-IN" sz="1800" b="0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7AB890-A5AF-4BB5-6DF5-28E9B9912535}"/>
              </a:ext>
            </a:extLst>
          </p:cNvPr>
          <p:cNvSpPr txBox="1">
            <a:spLocks/>
          </p:cNvSpPr>
          <p:nvPr/>
        </p:nvSpPr>
        <p:spPr>
          <a:xfrm>
            <a:off x="1135116" y="1062201"/>
            <a:ext cx="10318532" cy="195689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Amtrak Data: 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https://umd.instructure.com/courses/1368423/modules/items/13221176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Goals Set By Amtrak: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https://www.amtrak.com/content/dam/projects/dotcom/english/public/documents/corporate/businessplanning/Amtrak-Five-Year-Service-Plans-FY18-FY23.pdf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1200"/>
              </a:spcAft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98E463-75FC-9CEE-4DAF-AFB747E954AE}"/>
              </a:ext>
            </a:extLst>
          </p:cNvPr>
          <p:cNvSpPr txBox="1">
            <a:spLocks/>
          </p:cNvSpPr>
          <p:nvPr/>
        </p:nvSpPr>
        <p:spPr>
          <a:xfrm>
            <a:off x="975360" y="3019096"/>
            <a:ext cx="10241280" cy="12344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0" dirty="0">
                <a:latin typeface="Arial" panose="020B0604020202020204" pitchFamily="34" charset="0"/>
              </a:rPr>
              <a:t>Users/clients</a:t>
            </a:r>
          </a:p>
          <a:p>
            <a:br>
              <a:rPr lang="en-IN" sz="1800" b="0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0605C0E-FDC8-9C4E-8C9A-A56010A36E10}"/>
              </a:ext>
            </a:extLst>
          </p:cNvPr>
          <p:cNvSpPr txBox="1">
            <a:spLocks/>
          </p:cNvSpPr>
          <p:nvPr/>
        </p:nvSpPr>
        <p:spPr>
          <a:xfrm>
            <a:off x="1135116" y="3429000"/>
            <a:ext cx="10241280" cy="274383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Research and Academic Institutions: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Purpose: Conduct transportation studies, focusing on public transit efficiency and workforce correlations. 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Benefit: Enables targeted studies for sustainable transportation development.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Amtrak Management and Leadership: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Purpose: Use the insights for strategic decision-making to meet service goals and improve ridership.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Benefit: Align internal strategies with operational outcomes and improve financial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376983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C5CC17-FF17-43CF-B073-D9051465D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BE2DDC-0D14-44E6-A1AB-2EEC09507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7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43D98-0AA2-43B4-B508-DC1DB7F3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2414" y="1406060"/>
            <a:ext cx="6857572" cy="4045450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96000">
                <a:schemeClr val="accent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723C1D-9A1A-465B-8164-483BF5426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98889" y="3617790"/>
            <a:ext cx="2453337" cy="4027079"/>
          </a:xfrm>
          <a:prstGeom prst="rect">
            <a:avLst/>
          </a:prstGeom>
          <a:gradFill>
            <a:gsLst>
              <a:gs pos="2000">
                <a:schemeClr val="accent5">
                  <a:alpha val="35000"/>
                </a:schemeClr>
              </a:gs>
              <a:gs pos="67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6680484-5F73-4078-85C2-415205B1A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30441" y="1644149"/>
            <a:ext cx="4384532" cy="4196758"/>
          </a:xfrm>
          <a:custGeom>
            <a:avLst/>
            <a:gdLst>
              <a:gd name="connsiteX0" fmla="*/ 44539 w 4384532"/>
              <a:gd name="connsiteY0" fmla="*/ 2446310 h 4196758"/>
              <a:gd name="connsiteX1" fmla="*/ 0 w 4384532"/>
              <a:gd name="connsiteY1" fmla="*/ 2004492 h 4196758"/>
              <a:gd name="connsiteX2" fmla="*/ 500607 w 4384532"/>
              <a:gd name="connsiteY2" fmla="*/ 610007 h 4196758"/>
              <a:gd name="connsiteX3" fmla="*/ 589546 w 4384532"/>
              <a:gd name="connsiteY3" fmla="*/ 512149 h 4196758"/>
              <a:gd name="connsiteX4" fmla="*/ 3077760 w 4384532"/>
              <a:gd name="connsiteY4" fmla="*/ 0 h 4196758"/>
              <a:gd name="connsiteX5" fmla="*/ 3237230 w 4384532"/>
              <a:gd name="connsiteY5" fmla="*/ 76821 h 4196758"/>
              <a:gd name="connsiteX6" fmla="*/ 4384532 w 4384532"/>
              <a:gd name="connsiteY6" fmla="*/ 2004492 h 4196758"/>
              <a:gd name="connsiteX7" fmla="*/ 2192266 w 4384532"/>
              <a:gd name="connsiteY7" fmla="*/ 4196758 h 4196758"/>
              <a:gd name="connsiteX8" fmla="*/ 44539 w 4384532"/>
              <a:gd name="connsiteY8" fmla="*/ 2446310 h 4196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4532" h="4196758">
                <a:moveTo>
                  <a:pt x="44539" y="2446310"/>
                </a:moveTo>
                <a:cubicBezTo>
                  <a:pt x="15336" y="2303599"/>
                  <a:pt x="0" y="2155836"/>
                  <a:pt x="0" y="2004492"/>
                </a:cubicBezTo>
                <a:cubicBezTo>
                  <a:pt x="0" y="1474787"/>
                  <a:pt x="187867" y="988960"/>
                  <a:pt x="500607" y="610007"/>
                </a:cubicBezTo>
                <a:lnTo>
                  <a:pt x="589546" y="512149"/>
                </a:lnTo>
                <a:lnTo>
                  <a:pt x="3077760" y="0"/>
                </a:lnTo>
                <a:lnTo>
                  <a:pt x="3237230" y="76821"/>
                </a:lnTo>
                <a:cubicBezTo>
                  <a:pt x="3920615" y="448057"/>
                  <a:pt x="4384532" y="1172098"/>
                  <a:pt x="4384532" y="2004492"/>
                </a:cubicBezTo>
                <a:cubicBezTo>
                  <a:pt x="4384532" y="3215247"/>
                  <a:pt x="3403021" y="4196758"/>
                  <a:pt x="2192266" y="4196758"/>
                </a:cubicBezTo>
                <a:cubicBezTo>
                  <a:pt x="1132855" y="4196758"/>
                  <a:pt x="248960" y="3445288"/>
                  <a:pt x="44539" y="2446310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7007F-FD36-008B-2D4B-C059C79C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1028701"/>
            <a:ext cx="3248863" cy="3020785"/>
          </a:xfrm>
        </p:spPr>
        <p:txBody>
          <a:bodyPr>
            <a:normAutofit/>
          </a:bodyPr>
          <a:lstStyle/>
          <a:p>
            <a:pPr algn="ctr"/>
            <a:r>
              <a:rPr lang="en-IN" sz="3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Mission Statement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5D219-F772-3650-4BD7-007BA6F45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409" y="1028702"/>
            <a:ext cx="6273972" cy="484346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endParaRPr lang="en-US" sz="1800" dirty="0"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To analyze service performance metrics and demand fluctuations to improve resource allocation, operational efficiency, and on-time service reliability.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br>
              <a:rPr lang="en-US" sz="1800" dirty="0"/>
            </a:b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8708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5DD0-70A7-9B54-A045-EA5A868A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IN" sz="1800" b="0" i="0" u="none" strike="noStrike" dirty="0">
                <a:effectLst/>
                <a:latin typeface="Arial" panose="020B0604020202020204" pitchFamily="34" charset="0"/>
              </a:rPr>
              <a:t>Mission Objectives</a:t>
            </a:r>
            <a:br>
              <a:rPr lang="en-IN" sz="1800" b="0" i="0" u="none" strike="noStrike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A7A9-1CFC-58BC-2465-70A0008B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9428"/>
            <a:ext cx="10241280" cy="4112187"/>
          </a:xfrm>
        </p:spPr>
        <p:txBody>
          <a:bodyPr/>
          <a:lstStyle/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Identify high-traffic stations and analyze demand fluctuations.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Compare states' ridership goals with actual FY23 performance.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Highlight states achieving top 10 OTP (On-Time Performance) improvements with minimal procurement costs.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Evaluate the top 10 states with the highest employee-to-ridership impact.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81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538D-65EB-1DA2-1F81-584602FA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r>
              <a:rPr lang="en-IN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Terms</a:t>
            </a:r>
            <a:br>
              <a:rPr lang="en-IN" sz="1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9EB75-893C-15CB-19E8-47CE8B15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Service Performance Metrics: Measures ridership, OTP, and procurement efficiency.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Demand Fluctuations: Focus on high-traffic stations and resource realignment.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High-Traffic Stations: Priority targets for maintaining service quality.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Ridership Goals vs Actuals: Insight into performance alignment.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Employee-to-Ridership Impact: Efficiency evaluation of staffing against passenger needs.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Procurement Costs: Importance of cost management in boosting OTP.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85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7A79-053B-9E83-30DE-C3E117D2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r>
              <a:rPr lang="en-IN" sz="1800" b="0" dirty="0">
                <a:latin typeface="Arial" panose="020B0604020202020204" pitchFamily="34" charset="0"/>
              </a:rPr>
              <a:t>Potential trends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AE0DB-A7D2-871C-74EB-CFA4AF054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Prioritized high-traffic stations significantly influence demand.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 allocation and OTP improvements drive ridership success.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Strategic resource use demonstrates operational efficiency.</a:t>
            </a:r>
            <a:endParaRPr lang="en-US" sz="18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43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3A71-2D2B-9CBA-09C2-30B2C268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r>
              <a:rPr lang="en-IN" sz="1800" b="0" i="0" u="none" strike="noStrike" dirty="0">
                <a:effectLst/>
                <a:latin typeface="Arial" panose="020B0604020202020204" pitchFamily="34" charset="0"/>
              </a:rPr>
              <a:t>Sample Data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D118-26B9-982A-2D5A-500CE17CA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7261"/>
            <a:ext cx="10241280" cy="3959352"/>
          </a:xfrm>
        </p:spPr>
        <p:txBody>
          <a:bodyPr>
            <a:normAutofit fontScale="85000" lnSpcReduction="10000"/>
          </a:bodyPr>
          <a:lstStyle/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Station: Includes details like station codes, cities, and state names.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Budget: Details on financial allocations over fiscal years.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OTP: On-time performance data by state and route.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Guest Rewards: Year-over-year state-wise loyalty metrics.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Ridership: Passenger data segmented by station and year.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Procurement: Financial spending data by state.</a:t>
            </a:r>
            <a:endParaRPr lang="en-US" b="0" dirty="0"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Employment: Staffing levels and associated costs.</a:t>
            </a:r>
          </a:p>
          <a:p>
            <a:pPr rtl="0">
              <a:spcAft>
                <a:spcPts val="1200"/>
              </a:spcAft>
            </a:pPr>
            <a:r>
              <a:rPr lang="en-US" sz="1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Goals Year On Year: Goals set by Amtrak for year 2023.</a:t>
            </a:r>
          </a:p>
        </p:txBody>
      </p:sp>
    </p:spTree>
    <p:extLst>
      <p:ext uri="{BB962C8B-B14F-4D97-AF65-F5344CB8AC3E}">
        <p14:creationId xmlns:p14="http://schemas.microsoft.com/office/powerpoint/2010/main" val="13481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EAEC0-3865-CDD9-0974-2565A60B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340618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2500" spc="750">
                <a:solidFill>
                  <a:schemeClr val="bg1"/>
                </a:solidFill>
              </a:rPr>
              <a:t>Entity Relationship Diagram</a:t>
            </a:r>
            <a:br>
              <a:rPr lang="en-US" sz="2500" spc="750">
                <a:solidFill>
                  <a:schemeClr val="bg1"/>
                </a:solidFill>
              </a:rPr>
            </a:br>
            <a:endParaRPr lang="en-US" sz="2500" spc="75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402DF-0584-2332-CE14-F38C9A14B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186" y="-429"/>
            <a:ext cx="5729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4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F59B-FBC4-7371-D754-F62652EA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Relational schema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6AFF-0277-5E74-3E60-E122356CC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76549"/>
            <a:ext cx="10241280" cy="429506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State(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stateName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Station(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stationCode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stationCity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stationStateID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stationUrl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Budget(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budgetType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budgetPlanYear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budgetStationCode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budgetStationName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budgetBudget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budgetPriorYears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budgetFY23, budgetFY24, budgetFY25, budgetFY26)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OTP(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otpType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otpRoute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otpStations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otpHostRailroads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otpFY21otp, otpFY22otp, otpFY23otp)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GuestRewards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IN" sz="1800" b="1" i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guestRewardsStateID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guestRewardsFY21, guestRewardsFY22, guestRewardsFY23)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Ridership(</a:t>
            </a:r>
            <a:r>
              <a:rPr lang="en-IN" sz="1800" b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ridershipId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b="1" i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ridershipStationCode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ridershipStateID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ridershipFY21, ridershipFY22, ridershipFY23)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Procurement(</a:t>
            </a:r>
            <a:r>
              <a:rPr lang="en-IN" sz="1800" b="1" i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procurementStateId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procurementStationCity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procurementFY21, procurementFY22, procurementFY23)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Employment(</a:t>
            </a:r>
            <a:r>
              <a:rPr lang="en-IN" sz="1800" b="1" i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employmentStateID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employmentFY21, employment0FY21, employmentFY22, employment0FY22, employmentFY23, employment0FY23)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GoalsYoY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IN" sz="1800" b="1" i="1" u="sng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GoalsYoYStateID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GoalsYoYRidership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GoalsYoYOTP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981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9550-8F9C-00D8-3AEA-B5C50607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841683"/>
          </a:xfrm>
        </p:spPr>
        <p:txBody>
          <a:bodyPr>
            <a:noAutofit/>
          </a:bodyPr>
          <a:lstStyle/>
          <a:p>
            <a:r>
              <a:rPr lang="en-IN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Database Design</a:t>
            </a:r>
            <a:br>
              <a:rPr lang="en-IN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96F5-D23D-D624-494F-953A22A8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0091"/>
            <a:ext cx="10241280" cy="4251525"/>
          </a:xfrm>
        </p:spPr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endParaRPr lang="en-I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Create Station Table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Station_T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stationCode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CHAR(3) NOT NULL,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stationCity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VARCHAR(100),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stationUrl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VARCHAR(100),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stationStateID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CHAR(3),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CONSTRAINT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pk_Station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PRIMARY KEY (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stationCode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stationCity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CONSTRAINT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fk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_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Station_StateID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FOREIGN KEY (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stationStateID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REFERENCES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State_T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stateID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ON DELETE CASCADE ON UPDATE CASCADE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47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CDE56-29F7-104B-FF5E-4CF2B2F3C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7970"/>
            <a:ext cx="9144000" cy="2826182"/>
          </a:xfrm>
        </p:spPr>
        <p:txBody>
          <a:bodyPr anchor="ctr"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Business transactions</a:t>
            </a:r>
          </a:p>
        </p:txBody>
      </p:sp>
    </p:spTree>
    <p:extLst>
      <p:ext uri="{BB962C8B-B14F-4D97-AF65-F5344CB8AC3E}">
        <p14:creationId xmlns:p14="http://schemas.microsoft.com/office/powerpoint/2010/main" val="29471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5B1D-2957-D0E9-D84D-F5834343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806849"/>
          </a:xfrm>
        </p:spPr>
        <p:txBody>
          <a:bodyPr>
            <a:normAutofit fontScale="90000"/>
          </a:bodyPr>
          <a:lstStyle/>
          <a:p>
            <a:br>
              <a:rPr lang="en-IN" sz="2000" b="0" i="0" dirty="0">
                <a:solidFill>
                  <a:srgbClr val="2D3B4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>
                <a:solidFill>
                  <a:srgbClr val="2D3B4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B1.States with the Highest Employee-to-Ridership Impact</a:t>
            </a:r>
            <a:br>
              <a:rPr lang="en-US" sz="1200" dirty="0"/>
            </a:b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1A60-78CC-D715-9E81-F766ACA1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2377"/>
            <a:ext cx="10241280" cy="4469239"/>
          </a:xfrm>
        </p:spPr>
        <p:txBody>
          <a:bodyPr>
            <a:no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Identify whether changes in employees over the years led to changes in ridership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e.employmentStateID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StateID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s.stateName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StateName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(e.employmentFY23 - e.employmentFY21) AS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EmployeeChange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      (SUM(r.ridershipFY23) - SUM(r.ridershipFY21)) AS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RidershipChange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        CASE 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        WHEN (e.employmentFY23 - e.employmentFY21) &gt; 0 AND (SUM(r.ridershipFY23) - SUM(r.ridershipFY21)) &gt; 0 THEN 'Positive Correlation’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         WHEN (e.employmentFY23 - e.employmentFY21) &lt; 0 AND (SUM(r.ridershipFY23) - SUM(r.ridershipFY21)) &lt; 0 THEN 'Positive Correlation'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        WHEN (e.employmentFY23 - e.employmentFY21) * (SUM(r.ridershipFY23) - SUM(r.ridershipFY21)) &lt; 0 THEN 'Negative Correlation'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    ELSE 'No Significant Change’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        END AS Correlation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Employment_T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JOIN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Ridership_T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 ON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e.employmentStateID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r.ridershipStateID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 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State_T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 ON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e.employmentStateID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s.stateID</a:t>
            </a:r>
            <a:endParaRPr lang="en-IN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e.employmentStateID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s.stateName</a:t>
            </a: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e.employmentFY23, e.employmentFY21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HAVING (SUM(r.ridershipFY23) - SUM(r.ridershipFY21)) IS NOT NULL</a:t>
            </a:r>
            <a:endParaRPr lang="en-IN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IN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BY ABS(SUM(r.ridershipFY23) - SUM(r.ridershipFY21)) DESC, ABS(e.employmentFY23 - e.employmentFY21) DESC;</a:t>
            </a:r>
          </a:p>
          <a:p>
            <a:pPr marL="0" indent="0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9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B5833-BEF2-B6AB-8BD3-2631F116BB68}"/>
              </a:ext>
            </a:extLst>
          </p:cNvPr>
          <p:cNvSpPr txBox="1"/>
          <p:nvPr/>
        </p:nvSpPr>
        <p:spPr>
          <a:xfrm>
            <a:off x="1108966" y="633293"/>
            <a:ext cx="7540847" cy="27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whether changes in employees over the years led to changes in ridership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BCE9AC-A106-D34D-1478-78E8B9A4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5" y="1105653"/>
            <a:ext cx="6824825" cy="14473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C42EF1-B18D-D4AD-EBB6-04DE7ECE1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5" y="2676124"/>
            <a:ext cx="9766802" cy="37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6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1A6A-BA6C-B53B-FCA0-1E6038A3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028" y="2058676"/>
            <a:ext cx="10241280" cy="3959352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Employee-to-Ridership Correlation: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 such as Georgia, Colorado, California, and Delaware exhibit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correlation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changes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employee numbers and ridership figures.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Notable ridership changes in states like California (214) and Delaware (327) suggest that increases in ridership drive corresponding changes in staffing, highlighting the impact of operational demand on employee levels.</a:t>
            </a:r>
          </a:p>
          <a:p>
            <a:endParaRPr lang="en-US" sz="1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87D3A6-F4CD-D40D-DD62-30F83F248A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360" y="540346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0" dirty="0"/>
              <a:t>Findings and Insights: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76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F638-B012-BF92-5209-76C07EA8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0261"/>
            <a:ext cx="10241280" cy="854311"/>
          </a:xfrm>
        </p:spPr>
        <p:txBody>
          <a:bodyPr>
            <a:normAutofit/>
          </a:bodyPr>
          <a:lstStyle/>
          <a:p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B2.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 To identify states that are meeting/not meeting/exceeding ridership goals compared to actual performance for FY23</a:t>
            </a:r>
            <a:endParaRPr lang="en-IN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750C-E6E3-C8C6-55A8-FCF0BFCA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0457"/>
            <a:ext cx="10241280" cy="459115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To identify states that are meeting/not meeting/exceeding ridership goals compared to actual performance for FY23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g.GoalsYoYStateID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StateID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s.stateName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StateName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g.GoalsYoYRidership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AS GoalFY23Ridership,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SUM(r.ridershipFY23) AS ActualFY23Ridership,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CASE 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WHEN SUM(r.ridershipFY23) &lt;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g.GoalsYoYRidership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THEN 'Not Meeting'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WHEN SUM(r.ridershipFY23) =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g.GoalsYoYRidership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THEN 'Meeting'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WHEN SUM(r.ridershipFY23) &gt;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g.GoalsYoYRidership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THEN 'Exceeding'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END AS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PerformanceStatus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GoalsYoY_T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g JOIN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State_T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s ON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g.GoalsYoYStateID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s.stateID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	JOIN 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Ridership_T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r ON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r.ridershipStateID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g.GoalsYoYStateID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g.GoalsYoYStateID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s.stateName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g.GoalsYoYRidership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8116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F4AA60-BDFC-6C25-1DF9-9B8A8364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0" y="751867"/>
            <a:ext cx="5777265" cy="1766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3653AD-E4BA-4E28-7FB1-0B041B692E95}"/>
              </a:ext>
            </a:extLst>
          </p:cNvPr>
          <p:cNvSpPr txBox="1"/>
          <p:nvPr/>
        </p:nvSpPr>
        <p:spPr>
          <a:xfrm>
            <a:off x="1104595" y="474868"/>
            <a:ext cx="7991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identify states that are meeting/not meeting/exceeding ridership goals compared to actual performance for FY23</a:t>
            </a:r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54D7D9-B072-7627-CE9E-52330C4D8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0" y="2518826"/>
            <a:ext cx="9246452" cy="38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5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FA93717-DFF3-4B03-755C-93F247B204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030" y="1119679"/>
            <a:ext cx="43234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YoY Growth Performance 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Overall ridership growth from FY22 to FY23: 28.2%, reflecting strong operational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States like California and Georgia demonstrate the impact of population density and efficient transit networks on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9501B5-80AD-3A97-B638-163B3FE87240}"/>
              </a:ext>
            </a:extLst>
          </p:cNvPr>
          <p:cNvSpPr txBox="1">
            <a:spLocks/>
          </p:cNvSpPr>
          <p:nvPr/>
        </p:nvSpPr>
        <p:spPr>
          <a:xfrm>
            <a:off x="525030" y="0"/>
            <a:ext cx="10241280" cy="8416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0" dirty="0"/>
              <a:t>Findings and Insights: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88866E-8738-14C5-A7FC-6C6B2839EBF8}"/>
              </a:ext>
            </a:extLst>
          </p:cNvPr>
          <p:cNvCxnSpPr>
            <a:cxnSpLocks/>
          </p:cNvCxnSpPr>
          <p:nvPr/>
        </p:nvCxnSpPr>
        <p:spPr>
          <a:xfrm flipH="1">
            <a:off x="5645670" y="946298"/>
            <a:ext cx="21490" cy="2317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60B99DD1-165F-E000-30D2-7FA83468F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893" y="1087779"/>
            <a:ext cx="43234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Challenges 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• Despite ~30% YoY growth, states did not meet ridership goals due to: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</a:rPr>
              <a:t>Variations in population density.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2. Migration trends affecting demand.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605DF0-F713-C0E7-5194-67CD679D8C8D}"/>
              </a:ext>
            </a:extLst>
          </p:cNvPr>
          <p:cNvCxnSpPr>
            <a:cxnSpLocks/>
          </p:cNvCxnSpPr>
          <p:nvPr/>
        </p:nvCxnSpPr>
        <p:spPr>
          <a:xfrm>
            <a:off x="525030" y="3429000"/>
            <a:ext cx="471682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076D98-1B2E-F846-8DE9-64AAF02BD68E}"/>
              </a:ext>
            </a:extLst>
          </p:cNvPr>
          <p:cNvCxnSpPr>
            <a:cxnSpLocks/>
          </p:cNvCxnSpPr>
          <p:nvPr/>
        </p:nvCxnSpPr>
        <p:spPr>
          <a:xfrm>
            <a:off x="5656422" y="3783641"/>
            <a:ext cx="0" cy="23194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59BC41-E536-2C76-F9BF-F5C2226B5F24}"/>
              </a:ext>
            </a:extLst>
          </p:cNvPr>
          <p:cNvCxnSpPr>
            <a:cxnSpLocks/>
          </p:cNvCxnSpPr>
          <p:nvPr/>
        </p:nvCxnSpPr>
        <p:spPr>
          <a:xfrm>
            <a:off x="6049489" y="3429000"/>
            <a:ext cx="5306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">
            <a:extLst>
              <a:ext uri="{FF2B5EF4-FFF2-40B4-BE49-F238E27FC236}">
                <a16:creationId xmlns:a16="http://schemas.microsoft.com/office/drawing/2014/main" id="{6B85357B-808E-6E74-7EDC-58D37B573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47" y="3927702"/>
            <a:ext cx="43234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Analysis Value 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• </a:t>
            </a:r>
            <a:r>
              <a:rPr lang="en-US" altLang="en-US" sz="1400" dirty="0">
                <a:latin typeface="Arial" panose="020B0604020202020204" pitchFamily="34" charset="0"/>
              </a:rPr>
              <a:t>Provides YoY growth data for all states.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• Serves as a benchmark for setting realistic </a:t>
            </a:r>
            <a:r>
              <a:rPr lang="en-US" altLang="en-US" sz="1400" b="1" dirty="0">
                <a:latin typeface="Arial" panose="020B0604020202020204" pitchFamily="34" charset="0"/>
              </a:rPr>
              <a:t>FY24 goals</a:t>
            </a:r>
            <a:r>
              <a:rPr lang="en-US" altLang="en-US" sz="1400" dirty="0">
                <a:latin typeface="Arial" panose="020B0604020202020204" pitchFamily="34" charset="0"/>
              </a:rPr>
              <a:t> and developing a </a:t>
            </a:r>
            <a:r>
              <a:rPr lang="en-US" altLang="en-US" sz="1400" b="1" dirty="0">
                <a:latin typeface="Arial" panose="020B0604020202020204" pitchFamily="34" charset="0"/>
              </a:rPr>
              <a:t>5-year roadmap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361A5F9-3A43-F541-60BE-C7CF94902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892" y="3675919"/>
            <a:ext cx="432341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Model Contributions 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• Establishes a baseline for </a:t>
            </a:r>
            <a:r>
              <a:rPr lang="en-US" altLang="en-US" sz="1400" b="1" dirty="0">
                <a:latin typeface="Arial" panose="020B0604020202020204" pitchFamily="34" charset="0"/>
              </a:rPr>
              <a:t>minimum expected YoY growth.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• Acts as a framework for aligning strategic goals and ridership milestones.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1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2220-755B-887A-0F13-E278E87C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A0D5BEF-0FC4-52DC-BE4C-AC881AD87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5773" y="1434998"/>
            <a:ext cx="1138648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analysis of Amtrak's performance metrics and demand fluctuations has highlighted critical insights that can drive strategic improvements: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Resource Allocation: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management of employees and resources plays a pivotal role in increasing ridership and improving on-time performance (OTP).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Interventions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Underperforming states can leverage strategies adopted by top-performing states to bridge operational gaps and meet ridership goals.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Decisions: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Prioritizing high-traffic stations and aligning procurement costs with OTP improvements fosters financial sustainability and enhances service reliability.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By implementing these strategies, Amtrak can improve its operational efficiency, meet service goals, and strengthen its position as a leader in sustainable public transit. The findings underscore the importance of using performance data to address challenges and capitalize on opportunities for growth.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96BE5E-3602-BC07-B2DE-57FB99446860}"/>
              </a:ext>
            </a:extLst>
          </p:cNvPr>
          <p:cNvSpPr txBox="1">
            <a:spLocks/>
          </p:cNvSpPr>
          <p:nvPr/>
        </p:nvSpPr>
        <p:spPr>
          <a:xfrm>
            <a:off x="585773" y="585466"/>
            <a:ext cx="10241280" cy="8416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0" dirty="0"/>
              <a:t>Conclusion: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8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DEDE8-48F1-2A0E-1DE3-B9B008B5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9E0F2A-DB16-5832-D503-4B39C81CF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C04D54-7F95-D71A-5732-E66253A83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798E4-8286-FFF8-9838-AAD38E225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75929A-6EA0-9ACF-85A7-4852EDCD9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3">
            <a:extLst>
              <a:ext uri="{FF2B5EF4-FFF2-40B4-BE49-F238E27FC236}">
                <a16:creationId xmlns:a16="http://schemas.microsoft.com/office/drawing/2014/main" id="{0874E681-36ED-1A54-4640-8B2EA2328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6FE15-F8F8-3B03-C961-A51FB8CD3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6517" y="1854295"/>
            <a:ext cx="9144000" cy="2826182"/>
          </a:xfrm>
        </p:spPr>
        <p:txBody>
          <a:bodyPr anchor="ctr"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511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1433</Words>
  <Application>Microsoft Macintosh PowerPoint</Application>
  <PresentationFormat>Widescreen</PresentationFormat>
  <Paragraphs>147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Tw Cen MT</vt:lpstr>
      <vt:lpstr>GradientRiseVTI</vt:lpstr>
      <vt:lpstr>VAMP (Vaulted Amtrak Metrics and Performance)</vt:lpstr>
      <vt:lpstr>PowerPoint Presentation</vt:lpstr>
      <vt:lpstr>Mission Statement</vt:lpstr>
      <vt:lpstr>Mission Objectives </vt:lpstr>
      <vt:lpstr>Business Terms </vt:lpstr>
      <vt:lpstr>Potential trends </vt:lpstr>
      <vt:lpstr>Sample Data </vt:lpstr>
      <vt:lpstr>Entity Relationship Diagram </vt:lpstr>
      <vt:lpstr>Relational schema  </vt:lpstr>
      <vt:lpstr>Physical Database Design </vt:lpstr>
      <vt:lpstr>Business transactions</vt:lpstr>
      <vt:lpstr> B1.States with the Highest Employee-to-Ridership Impact </vt:lpstr>
      <vt:lpstr>PowerPoint Presentation</vt:lpstr>
      <vt:lpstr>Findings and Insights: </vt:lpstr>
      <vt:lpstr>B2. To identify states that are meeting/not meeting/exceeding ridership goals compared to actual performance for FY23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Chamakuri</dc:creator>
  <cp:lastModifiedBy>CVC Vinay</cp:lastModifiedBy>
  <cp:revision>25</cp:revision>
  <dcterms:created xsi:type="dcterms:W3CDTF">2024-11-26T23:28:53Z</dcterms:created>
  <dcterms:modified xsi:type="dcterms:W3CDTF">2024-12-10T03:11:32Z</dcterms:modified>
</cp:coreProperties>
</file>